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9"/>
  </p:notesMasterIdLst>
  <p:sldIdLst>
    <p:sldId id="256" r:id="rId2"/>
    <p:sldId id="259" r:id="rId3"/>
    <p:sldId id="260" r:id="rId4"/>
    <p:sldId id="258" r:id="rId5"/>
    <p:sldId id="257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9563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7769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5272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57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9988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737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7981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3603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0194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9080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16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21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0">
            <a:extLst>
              <a:ext uri="{FF2B5EF4-FFF2-40B4-BE49-F238E27FC236}">
                <a16:creationId xmlns:a16="http://schemas.microsoft.com/office/drawing/2014/main" id="{93775E96-00BB-4A3B-A986-B34178036A1C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4F2B3BA-113D-4A48-B9F5-C2B84DD01237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31096B6A-325B-4586-8D7C-0E2A40295C94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9B49C6A7-59FD-4209-A89D-E6D1CC468830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모델링</a:t>
            </a:r>
            <a:endParaRPr lang="en-US" sz="8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AA05F99-3B4D-43F5-AAC9-86A369542B70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04998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650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2026-08-04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en-US" altLang="ko-KR"/>
              <a:t>				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97DC-EED6-44D3-88D7-A3CC1ABAF9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0239" y="1736041"/>
            <a:ext cx="11283192" cy="1049337"/>
          </a:xfrm>
        </p:spPr>
        <p:txBody>
          <a:bodyPr>
            <a:noAutofit/>
          </a:bodyPr>
          <a:lstStyle/>
          <a:p>
            <a:pPr algn="ctr"/>
            <a:r>
              <a:rPr lang="ko-KR" altLang="en-US" sz="5500" dirty="0">
                <a:solidFill>
                  <a:schemeClr val="accent1"/>
                </a:solidFill>
              </a:rPr>
              <a:t>화재로 인한 인명피해 데이터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B1A14-8F7E-4425-B825-7E5F47A34950}"/>
              </a:ext>
            </a:extLst>
          </p:cNvPr>
          <p:cNvSpPr txBox="1"/>
          <p:nvPr/>
        </p:nvSpPr>
        <p:spPr>
          <a:xfrm>
            <a:off x="9009776" y="4999839"/>
            <a:ext cx="305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 err="1"/>
              <a:t>태두혁</a:t>
            </a:r>
            <a:r>
              <a:rPr lang="en-US" altLang="ko-KR" dirty="0"/>
              <a:t>, </a:t>
            </a:r>
            <a:r>
              <a:rPr lang="ko-KR" altLang="en-US" dirty="0" err="1"/>
              <a:t>노가희</a:t>
            </a:r>
            <a:r>
              <a:rPr lang="en-US" altLang="ko-KR" dirty="0"/>
              <a:t>, </a:t>
            </a:r>
            <a:r>
              <a:rPr lang="ko-KR" altLang="en-US" dirty="0" err="1"/>
              <a:t>김기완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85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58302-A049-4E18-A939-25E984B9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가설 및 문제 정의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C0876-FAE1-45FD-93B1-D728C4D6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400" dirty="0">
                <a:latin typeface="+mn-ea"/>
              </a:rPr>
              <a:t>분석 목적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D65E2F-48A8-4E96-9DE3-14B221822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980559"/>
            <a:ext cx="4645152" cy="2488167"/>
          </a:xfrm>
        </p:spPr>
        <p:txBody>
          <a:bodyPr/>
          <a:lstStyle/>
          <a:p>
            <a:r>
              <a:rPr lang="ko-KR" altLang="en-US" sz="1800" dirty="0"/>
              <a:t>화재 발생시 인명피해에 직접적인 영향을 주는 </a:t>
            </a:r>
            <a:r>
              <a:rPr lang="ko-KR" altLang="en-US" sz="1800" b="1" dirty="0"/>
              <a:t>원인이 규명</a:t>
            </a:r>
            <a:endParaRPr lang="en-US" altLang="ko-KR" sz="1800" b="1" dirty="0"/>
          </a:p>
          <a:p>
            <a:endParaRPr lang="en-US" altLang="ko-KR" sz="1800" dirty="0"/>
          </a:p>
          <a:p>
            <a:r>
              <a:rPr lang="ko-KR" altLang="en-US" sz="1800" dirty="0"/>
              <a:t>화재 데이터 기반의 분석을 통한 </a:t>
            </a:r>
            <a:r>
              <a:rPr lang="ko-KR" altLang="en-US" sz="1800" b="1" dirty="0"/>
              <a:t>인명피해 최소화 방안 도출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122B81-79E8-4C58-8CD7-60B2D0C96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700" y="2019255"/>
            <a:ext cx="4645152" cy="802237"/>
          </a:xfrm>
        </p:spPr>
        <p:txBody>
          <a:bodyPr>
            <a:normAutofit/>
          </a:bodyPr>
          <a:lstStyle/>
          <a:p>
            <a:pPr algn="ctr"/>
            <a:r>
              <a:rPr lang="ko-KR" altLang="en-US" sz="2400" dirty="0"/>
              <a:t>설정한 가설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D9384-4C73-41BF-BDBB-3659FB6CE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987761"/>
            <a:ext cx="4645152" cy="263737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환경적 요인 </a:t>
            </a:r>
            <a:r>
              <a:rPr lang="en-US" altLang="ko-KR" sz="1800" dirty="0"/>
              <a:t>(</a:t>
            </a:r>
            <a:r>
              <a:rPr lang="ko-KR" altLang="en-US" sz="1800" dirty="0"/>
              <a:t>발화 요인</a:t>
            </a:r>
            <a:r>
              <a:rPr lang="en-US" altLang="ko-KR" sz="1800" dirty="0"/>
              <a:t>, </a:t>
            </a:r>
            <a:r>
              <a:rPr lang="ko-KR" altLang="en-US" sz="1800" dirty="0"/>
              <a:t>장소</a:t>
            </a:r>
            <a:r>
              <a:rPr lang="en-US" altLang="ko-KR" sz="1800" dirty="0"/>
              <a:t>)</a:t>
            </a:r>
            <a:r>
              <a:rPr lang="ko-KR" altLang="en-US" sz="1800" dirty="0"/>
              <a:t>에 따라 인명피해 발생 확률에 차이가 있을 것이다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b="1" dirty="0"/>
              <a:t>시간적 요인</a:t>
            </a:r>
            <a:r>
              <a:rPr lang="en-US" altLang="ko-KR" sz="1800" dirty="0"/>
              <a:t>(</a:t>
            </a:r>
            <a:r>
              <a:rPr lang="ko-KR" altLang="en-US" sz="1800" dirty="0"/>
              <a:t>시간대</a:t>
            </a:r>
            <a:r>
              <a:rPr lang="en-US" altLang="ko-KR" sz="1800" dirty="0"/>
              <a:t>, </a:t>
            </a:r>
            <a:r>
              <a:rPr lang="ko-KR" altLang="en-US" sz="1800" dirty="0"/>
              <a:t>요일</a:t>
            </a:r>
            <a:r>
              <a:rPr lang="en-US" altLang="ko-KR" sz="1800" dirty="0"/>
              <a:t>,</a:t>
            </a:r>
            <a:r>
              <a:rPr lang="ko-KR" altLang="en-US" sz="1800" dirty="0"/>
              <a:t>계절</a:t>
            </a:r>
            <a:r>
              <a:rPr lang="en-US" altLang="ko-KR" sz="1800" dirty="0"/>
              <a:t>)</a:t>
            </a:r>
            <a:r>
              <a:rPr lang="ko-KR" altLang="en-US" sz="1800" dirty="0"/>
              <a:t>에 따라 인명피해 유발 강도가 다를 것이다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66678E6-4FB1-4AAD-A0A0-53E947A7B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79" y="5175354"/>
            <a:ext cx="7526484" cy="123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5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35EB3-C417-487D-A47E-367D2E26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데이터셋 분할 전략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F05D8-C3DD-47AB-B389-A2937C33C0C7}"/>
              </a:ext>
            </a:extLst>
          </p:cNvPr>
          <p:cNvSpPr txBox="1"/>
          <p:nvPr/>
        </p:nvSpPr>
        <p:spPr>
          <a:xfrm>
            <a:off x="1451578" y="2142309"/>
            <a:ext cx="9603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Train/Test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비율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: </a:t>
            </a: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75:25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Bahnschrift Light" panose="020B0502040204020203" pitchFamily="34" charset="0"/>
              </a:rPr>
              <a:t>공식 도큐먼트에서 권장하는 </a:t>
            </a:r>
            <a:r>
              <a:rPr lang="ko-KR" altLang="en-US" b="1" dirty="0">
                <a:latin typeface="Bahnschrift Light" panose="020B0502040204020203" pitchFamily="34" charset="0"/>
              </a:rPr>
              <a:t>중간 </a:t>
            </a:r>
            <a:r>
              <a:rPr lang="ko-KR" altLang="en-US" b="1" dirty="0" err="1">
                <a:latin typeface="Bahnschrift Light" panose="020B0502040204020203" pitchFamily="34" charset="0"/>
              </a:rPr>
              <a:t>표준값</a:t>
            </a:r>
            <a:r>
              <a:rPr lang="ko-KR" altLang="en-US" b="1" dirty="0">
                <a:latin typeface="Bahnschrift Light" panose="020B0502040204020203" pitchFamily="34" charset="0"/>
              </a:rPr>
              <a:t> 비율 채택</a:t>
            </a:r>
            <a:endParaRPr lang="en-US" altLang="ko-KR" b="1" dirty="0">
              <a:latin typeface="Bahnschrift Light" panose="020B0502040204020203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dirty="0">
                <a:latin typeface="Bahnschrift Light" panose="020B0502040204020203" pitchFamily="34" charset="0"/>
              </a:rPr>
              <a:t>25% </a:t>
            </a:r>
            <a:r>
              <a:rPr lang="ko-KR" altLang="en-US" dirty="0">
                <a:latin typeface="Bahnschrift Light" panose="020B0502040204020203" pitchFamily="34" charset="0"/>
              </a:rPr>
              <a:t>해당하는 검증 데이터만으로도 </a:t>
            </a:r>
            <a:r>
              <a:rPr lang="ko-KR" altLang="en-US" b="1" dirty="0">
                <a:latin typeface="Bahnschrift Light" panose="020B0502040204020203" pitchFamily="34" charset="0"/>
              </a:rPr>
              <a:t>대수의 법칙에 의해 유의미한 </a:t>
            </a:r>
            <a:r>
              <a:rPr lang="ko-KR" altLang="en-US" b="1" dirty="0" err="1">
                <a:latin typeface="Bahnschrift Light" panose="020B0502040204020203" pitchFamily="34" charset="0"/>
              </a:rPr>
              <a:t>검증력</a:t>
            </a:r>
            <a:r>
              <a:rPr lang="ko-KR" altLang="en-US" b="1" dirty="0">
                <a:latin typeface="Bahnschrift Light" panose="020B0502040204020203" pitchFamily="34" charset="0"/>
              </a:rPr>
              <a:t> 확보</a:t>
            </a:r>
            <a:endParaRPr lang="en-US" altLang="ko-KR" b="1" dirty="0">
              <a:latin typeface="Bahnschrift Light" panose="020B0502040204020203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accent1"/>
                </a:solidFill>
                <a:latin typeface="Bahnschrift Light" panose="020B0502040204020203" pitchFamily="34" charset="0"/>
              </a:rPr>
              <a:t>Stratify=y : </a:t>
            </a:r>
            <a:r>
              <a:rPr lang="ko-KR" altLang="en-US" sz="2400" dirty="0">
                <a:solidFill>
                  <a:schemeClr val="accent1"/>
                </a:solidFill>
                <a:latin typeface="Bahnschrift Light" panose="020B0502040204020203" pitchFamily="34" charset="0"/>
              </a:rPr>
              <a:t>데이터 쏠림 방지</a:t>
            </a:r>
            <a:endParaRPr lang="en-US" altLang="ko-KR" sz="2400" dirty="0">
              <a:solidFill>
                <a:schemeClr val="accent1"/>
              </a:solidFill>
              <a:latin typeface="Bahnschrift Ligh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교차 검증 </a:t>
            </a: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미적용</a:t>
            </a:r>
            <a:endParaRPr lang="en-US" altLang="ko-KR" sz="2400" dirty="0">
              <a:solidFill>
                <a:schemeClr val="accent1"/>
              </a:solidFill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전체 표본이 약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19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만 건</a:t>
            </a:r>
            <a:r>
              <a:rPr lang="ko-KR" altLang="en-US" dirty="0">
                <a:latin typeface="+mn-ea"/>
              </a:rPr>
              <a:t>으로 </a:t>
            </a:r>
            <a:r>
              <a:rPr lang="ko-KR" altLang="en-US" b="1" dirty="0">
                <a:latin typeface="+mn-ea"/>
              </a:rPr>
              <a:t>대량의 데이터셋</a:t>
            </a:r>
            <a:r>
              <a:rPr lang="ko-KR" altLang="en-US" dirty="0">
                <a:latin typeface="+mn-ea"/>
              </a:rPr>
              <a:t>에 해당</a:t>
            </a:r>
            <a:endParaRPr lang="en-US" altLang="ko-KR" dirty="0"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단일 분할만으로도 </a:t>
            </a:r>
            <a:r>
              <a:rPr lang="ko-KR" altLang="en-US" b="1" dirty="0">
                <a:latin typeface="+mn-ea"/>
              </a:rPr>
              <a:t>충분한 통계적 안정성 및 신뢰성 충족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lvl="1"/>
            <a:endParaRPr lang="en-US" altLang="ko-KR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DFFE1B-209A-4DBE-8935-44645783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45796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모델 개발 및 선정 근거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726641-87B8-4BF9-B997-1850FC70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64730"/>
            <a:ext cx="9603275" cy="4412364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600" dirty="0">
                <a:solidFill>
                  <a:schemeClr val="accent1"/>
                </a:solidFill>
                <a:latin typeface="+mj-ea"/>
                <a:ea typeface="+mj-ea"/>
              </a:rPr>
              <a:t>사용 모델 </a:t>
            </a:r>
            <a:endParaRPr lang="en-US" altLang="ko-KR" sz="2600" dirty="0">
              <a:solidFill>
                <a:schemeClr val="accent1"/>
              </a:solidFill>
              <a:latin typeface="+mj-ea"/>
              <a:ea typeface="+mj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RandomForestClassifier</a:t>
            </a:r>
            <a:r>
              <a:rPr lang="en-US" altLang="ko-KR" sz="1900" dirty="0">
                <a:latin typeface="+mn-ea"/>
              </a:rPr>
              <a:t> (</a:t>
            </a:r>
            <a:r>
              <a:rPr lang="ko-KR" altLang="en-US" sz="1900" dirty="0">
                <a:latin typeface="+mn-ea"/>
              </a:rPr>
              <a:t>랜덤 포레스트 분류기</a:t>
            </a:r>
            <a:r>
              <a:rPr lang="en-US" altLang="ko-KR" sz="1900" dirty="0"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sz="2600" dirty="0">
                <a:solidFill>
                  <a:schemeClr val="accent1"/>
                </a:solidFill>
              </a:rPr>
              <a:t>선정 근거</a:t>
            </a:r>
            <a:endParaRPr lang="en-US" altLang="ko-KR" sz="2600" dirty="0">
              <a:solidFill>
                <a:schemeClr val="accent1"/>
              </a:solidFill>
            </a:endParaRPr>
          </a:p>
          <a:p>
            <a:pPr lvl="1"/>
            <a:r>
              <a:rPr lang="ko-KR" altLang="en-US" sz="1900" dirty="0">
                <a:latin typeface="+mn-ea"/>
              </a:rPr>
              <a:t>다수의 의사결정나무 앙상블을 통해 </a:t>
            </a:r>
            <a:r>
              <a:rPr lang="ko-KR" altLang="en-US" sz="1900" b="1" dirty="0" err="1">
                <a:latin typeface="+mn-ea"/>
              </a:rPr>
              <a:t>과적합</a:t>
            </a:r>
            <a:r>
              <a:rPr lang="en-US" altLang="ko-KR" sz="1900" b="1" dirty="0">
                <a:latin typeface="+mn-ea"/>
              </a:rPr>
              <a:t>(Overfitting)</a:t>
            </a:r>
            <a:r>
              <a:rPr lang="ko-KR" altLang="en-US" sz="1900" b="1" dirty="0">
                <a:latin typeface="+mn-ea"/>
              </a:rPr>
              <a:t>에 강한</a:t>
            </a:r>
            <a:r>
              <a:rPr lang="ko-KR" altLang="en-US" sz="1900" dirty="0">
                <a:latin typeface="+mn-ea"/>
              </a:rPr>
              <a:t> 구조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class_weight</a:t>
            </a:r>
            <a:r>
              <a:rPr lang="ko-KR" altLang="en-US" sz="1900" dirty="0">
                <a:latin typeface="+mn-ea"/>
              </a:rPr>
              <a:t>  </a:t>
            </a:r>
            <a:r>
              <a:rPr lang="en-US" altLang="ko-KR" sz="1900" dirty="0">
                <a:latin typeface="+mn-ea"/>
              </a:rPr>
              <a:t>= 'balanced’ </a:t>
            </a:r>
            <a:r>
              <a:rPr lang="ko-KR" altLang="en-US" sz="1900" dirty="0">
                <a:latin typeface="+mn-ea"/>
              </a:rPr>
              <a:t>적용으로 </a:t>
            </a:r>
            <a:r>
              <a:rPr lang="ko-KR" altLang="en-US" sz="1900" b="1" dirty="0">
                <a:latin typeface="+mn-ea"/>
              </a:rPr>
              <a:t>소수 클래스도 안정적으로 학습</a:t>
            </a:r>
            <a:endParaRPr lang="en-US" altLang="ko-KR" sz="1900" b="1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sz="2600" dirty="0" err="1">
                <a:solidFill>
                  <a:schemeClr val="accent1"/>
                </a:solidFill>
                <a:latin typeface="+mn-ea"/>
              </a:rPr>
              <a:t>임계값</a:t>
            </a:r>
            <a:r>
              <a:rPr lang="ko-KR" altLang="en-US" sz="26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600" dirty="0">
                <a:solidFill>
                  <a:schemeClr val="accent1"/>
                </a:solidFill>
                <a:latin typeface="+mn-ea"/>
              </a:rPr>
              <a:t>(Threshold) </a:t>
            </a:r>
            <a:r>
              <a:rPr lang="ko-KR" altLang="en-US" sz="2600" dirty="0">
                <a:solidFill>
                  <a:schemeClr val="accent1"/>
                </a:solidFill>
                <a:latin typeface="+mn-ea"/>
              </a:rPr>
              <a:t>조정 전략</a:t>
            </a:r>
            <a:endParaRPr lang="en-US" altLang="ko-KR" sz="2600" dirty="0">
              <a:solidFill>
                <a:schemeClr val="accent1"/>
              </a:solidFill>
              <a:latin typeface="+mn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predict_proba</a:t>
            </a:r>
            <a:r>
              <a:rPr lang="en-US" altLang="ko-KR" sz="1900" dirty="0">
                <a:latin typeface="+mn-ea"/>
              </a:rPr>
              <a:t>() </a:t>
            </a:r>
            <a:r>
              <a:rPr lang="ko-KR" altLang="en-US" sz="1900" dirty="0">
                <a:latin typeface="+mn-ea"/>
              </a:rPr>
              <a:t>함수를 통해 인명피해 발생 확률 자체 추출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ko-KR" altLang="en-US" sz="1900" dirty="0" err="1">
                <a:latin typeface="+mn-ea"/>
              </a:rPr>
              <a:t>임계값을</a:t>
            </a:r>
            <a:r>
              <a:rPr lang="ko-KR" altLang="en-US" sz="1900" dirty="0">
                <a:latin typeface="+mn-ea"/>
              </a:rPr>
              <a:t> 기본값 </a:t>
            </a:r>
            <a:r>
              <a:rPr lang="en-US" altLang="ko-KR" sz="1900" b="1" dirty="0">
                <a:latin typeface="+mn-ea"/>
              </a:rPr>
              <a:t>0.5 -&gt; 0.3 </a:t>
            </a:r>
            <a:r>
              <a:rPr lang="ko-KR" altLang="en-US" sz="1900" dirty="0">
                <a:latin typeface="+mn-ea"/>
              </a:rPr>
              <a:t>하양 조정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ko-KR" altLang="en-US" sz="1900" dirty="0">
                <a:latin typeface="+mn-ea"/>
              </a:rPr>
              <a:t>인명피해 사건을 놓치지 않기 위해 </a:t>
            </a:r>
            <a:r>
              <a:rPr lang="ko-KR" altLang="en-US" sz="1900" b="1" dirty="0" err="1">
                <a:latin typeface="+mn-ea"/>
              </a:rPr>
              <a:t>재현율</a:t>
            </a:r>
            <a:r>
              <a:rPr lang="en-US" altLang="ko-KR" sz="1900" b="1" dirty="0">
                <a:latin typeface="+mn-ea"/>
              </a:rPr>
              <a:t>(</a:t>
            </a:r>
            <a:r>
              <a:rPr lang="en-US" altLang="ko-KR" sz="1900" b="1" dirty="0" err="1">
                <a:latin typeface="+mn-ea"/>
              </a:rPr>
              <a:t>Reacll</a:t>
            </a:r>
            <a:r>
              <a:rPr lang="en-US" altLang="ko-KR" sz="1900" b="1" dirty="0">
                <a:latin typeface="+mn-ea"/>
              </a:rPr>
              <a:t>) </a:t>
            </a:r>
            <a:r>
              <a:rPr lang="ko-KR" altLang="en-US" sz="1900" dirty="0">
                <a:latin typeface="+mn-ea"/>
              </a:rPr>
              <a:t>최적화</a:t>
            </a:r>
            <a:endParaRPr lang="en-US" altLang="ko-KR" sz="1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D4D4F-57DC-45BE-A67C-AE7F4891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성능 평가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91E31-857C-478F-BB8C-5D38CB1E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모델 예측 성능 평가</a:t>
            </a:r>
            <a:r>
              <a:rPr lang="en-US" altLang="ko-KR" sz="1800" dirty="0">
                <a:latin typeface="+mn-ea"/>
              </a:rPr>
              <a:t>( </a:t>
            </a:r>
            <a:r>
              <a:rPr lang="en-US" altLang="ko-KR" sz="1800" dirty="0" err="1">
                <a:latin typeface="+mn-ea"/>
              </a:rPr>
              <a:t>classification_report</a:t>
            </a:r>
            <a:r>
              <a:rPr lang="en-US" altLang="ko-KR" sz="1800" dirty="0">
                <a:latin typeface="+mn-ea"/>
              </a:rPr>
              <a:t>() )</a:t>
            </a:r>
          </a:p>
          <a:p>
            <a:pPr lvl="2"/>
            <a:r>
              <a:rPr lang="ko-KR" altLang="en-US" dirty="0">
                <a:latin typeface="+mn-ea"/>
              </a:rPr>
              <a:t>정밀도 및 </a:t>
            </a:r>
            <a:r>
              <a:rPr lang="ko-KR" altLang="en-US" dirty="0" err="1">
                <a:latin typeface="+mn-ea"/>
              </a:rPr>
              <a:t>재현율</a:t>
            </a:r>
            <a:r>
              <a:rPr lang="ko-KR" altLang="en-US" dirty="0">
                <a:latin typeface="+mn-ea"/>
              </a:rPr>
              <a:t> 불균형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데이터셋에 대한 모델의 탐지 정확도 검증</a:t>
            </a:r>
            <a:endParaRPr lang="en-US" altLang="ko-KR" dirty="0">
              <a:latin typeface="+mn-ea"/>
            </a:endParaRPr>
          </a:p>
          <a:p>
            <a:pPr lvl="2"/>
            <a:r>
              <a:rPr lang="en-US" altLang="ko-KR" dirty="0">
                <a:latin typeface="+mn-ea"/>
              </a:rPr>
              <a:t>F1-Score </a:t>
            </a:r>
            <a:r>
              <a:rPr lang="ko-KR" altLang="en-US" dirty="0">
                <a:latin typeface="+mn-ea"/>
              </a:rPr>
              <a:t>및 </a:t>
            </a:r>
            <a:r>
              <a:rPr lang="en-US" altLang="ko-KR" dirty="0">
                <a:latin typeface="+mn-ea"/>
              </a:rPr>
              <a:t>ROC-AUC: </a:t>
            </a:r>
            <a:r>
              <a:rPr lang="ko-KR" altLang="en-US" dirty="0">
                <a:latin typeface="+mn-ea"/>
              </a:rPr>
              <a:t>모델의 종합적인 분류 역량 및 안정성 성적 도출</a:t>
            </a:r>
            <a:endParaRPr lang="en-US" altLang="ko-KR" dirty="0">
              <a:latin typeface="+mn-ea"/>
            </a:endParaRPr>
          </a:p>
          <a:p>
            <a:pPr lvl="2"/>
            <a:endParaRPr lang="en-US" altLang="ko-KR" dirty="0">
              <a:latin typeface="+mn-ea"/>
            </a:endParaRPr>
          </a:p>
          <a:p>
            <a:pPr lvl="1"/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화재 </a:t>
            </a:r>
            <a:r>
              <a:rPr lang="ko-KR" altLang="en-US" sz="2400" dirty="0" err="1">
                <a:solidFill>
                  <a:schemeClr val="accent1"/>
                </a:solidFill>
                <a:latin typeface="+mn-ea"/>
              </a:rPr>
              <a:t>원인별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 기여도 분석</a:t>
            </a:r>
            <a:r>
              <a:rPr lang="en-US" altLang="ko-KR" sz="1800" dirty="0">
                <a:latin typeface="+mn-ea"/>
              </a:rPr>
              <a:t>( </a:t>
            </a:r>
            <a:r>
              <a:rPr lang="en-US" altLang="ko-KR" dirty="0" err="1">
                <a:latin typeface="+mn-ea"/>
              </a:rPr>
              <a:t>Feature_importances</a:t>
            </a:r>
            <a:r>
              <a:rPr lang="en-US" altLang="ko-KR" dirty="0">
                <a:latin typeface="+mn-ea"/>
              </a:rPr>
              <a:t>_ )</a:t>
            </a:r>
          </a:p>
          <a:p>
            <a:pPr lvl="2"/>
            <a:r>
              <a:rPr lang="ko-KR" altLang="en-US" dirty="0">
                <a:latin typeface="+mn-ea"/>
              </a:rPr>
              <a:t>랜덤 포레스트 내부 변수 중요도 산출 방식 사용</a:t>
            </a:r>
            <a:endParaRPr lang="en-US" altLang="ko-KR" dirty="0">
              <a:latin typeface="+mn-ea"/>
            </a:endParaRPr>
          </a:p>
          <a:p>
            <a:pPr lvl="2"/>
            <a:r>
              <a:rPr lang="ko-KR" altLang="en-US" dirty="0">
                <a:latin typeface="+mn-ea"/>
              </a:rPr>
              <a:t>인명피해 발생에 가장 치명적인 영향을 미친 </a:t>
            </a:r>
            <a:r>
              <a:rPr lang="ko-KR" altLang="en-US" b="1" dirty="0">
                <a:latin typeface="+mn-ea"/>
              </a:rPr>
              <a:t>요인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시간대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요일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환경</a:t>
            </a:r>
            <a:r>
              <a:rPr lang="en-US" altLang="ko-KR" b="1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규명</a:t>
            </a:r>
          </a:p>
        </p:txBody>
      </p:sp>
    </p:spTree>
    <p:extLst>
      <p:ext uri="{BB962C8B-B14F-4D97-AF65-F5344CB8AC3E}">
        <p14:creationId xmlns:p14="http://schemas.microsoft.com/office/powerpoint/2010/main" val="18864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FBED1B-A74F-4A36-8F74-24504924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dirty="0" err="1">
                <a:solidFill>
                  <a:schemeClr val="accent1"/>
                </a:solidFill>
                <a:latin typeface="+mn-ea"/>
                <a:ea typeface="+mn-ea"/>
              </a:rPr>
              <a:t>팀원별</a:t>
            </a:r>
            <a:r>
              <a:rPr lang="ko-KR" altLang="en-US" sz="4400" dirty="0">
                <a:solidFill>
                  <a:schemeClr val="accent1"/>
                </a:solidFill>
                <a:latin typeface="+mn-ea"/>
                <a:ea typeface="+mn-ea"/>
              </a:rPr>
              <a:t> 담당 역할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A0D6330-9696-4AA5-97F0-E03AE7120D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기존 주제였던 </a:t>
            </a:r>
            <a:r>
              <a:rPr lang="en-US" altLang="ko-KR" dirty="0"/>
              <a:t>CCTV</a:t>
            </a:r>
            <a:r>
              <a:rPr lang="ko-KR" altLang="en-US" dirty="0"/>
              <a:t>와 범죄연관성에서 </a:t>
            </a:r>
            <a:r>
              <a:rPr lang="en-US" altLang="ko-KR" dirty="0"/>
              <a:t>CCTV API</a:t>
            </a:r>
            <a:r>
              <a:rPr lang="ko-KR" altLang="en-US" dirty="0"/>
              <a:t>데이터 추출</a:t>
            </a:r>
            <a:endParaRPr lang="en-US" altLang="ko-KR" dirty="0"/>
          </a:p>
          <a:p>
            <a:r>
              <a:rPr lang="en-US" altLang="ko-KR" dirty="0"/>
              <a:t>CCTV</a:t>
            </a:r>
            <a:r>
              <a:rPr lang="ko-KR" altLang="en-US" dirty="0"/>
              <a:t> 데이터 부족으로 화재 데이터로 변경</a:t>
            </a:r>
            <a:endParaRPr lang="en-US" altLang="ko-KR" dirty="0"/>
          </a:p>
          <a:p>
            <a:r>
              <a:rPr lang="ko-KR" altLang="en-US" dirty="0"/>
              <a:t>팀원들과 회의를 통해 가설 설정 및 문제 정의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6AA89B-8050-42C6-9391-05DA9893D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방대한 데이터의 </a:t>
            </a:r>
            <a:r>
              <a:rPr lang="ko-KR" altLang="en-US" dirty="0" err="1"/>
              <a:t>전처리</a:t>
            </a:r>
            <a:r>
              <a:rPr lang="ko-KR" altLang="en-US" dirty="0"/>
              <a:t> 작업이 분석의 질을 높이는데 중요하다는 것을 느꼈습니다</a:t>
            </a:r>
            <a:endParaRPr lang="en-US" altLang="ko-KR" dirty="0"/>
          </a:p>
          <a:p>
            <a:r>
              <a:rPr lang="ko-KR" altLang="en-US" dirty="0"/>
              <a:t>단순 실습을 넘어 추후 중요한 데이터를 활용한다면 사회적으로 기여가 될 것 같았습니다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806714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232</TotalTime>
  <Words>396</Words>
  <Application>Microsoft Office PowerPoint</Application>
  <PresentationFormat>와이드스크린</PresentationFormat>
  <Paragraphs>60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Bahnschrift Light</vt:lpstr>
      <vt:lpstr>Consolas</vt:lpstr>
      <vt:lpstr>Gill Sans MT</vt:lpstr>
      <vt:lpstr>갤러리</vt:lpstr>
      <vt:lpstr>PowerPoint 프레젠테이션</vt:lpstr>
      <vt:lpstr>화재로 인한 인명피해 데이터 분석</vt:lpstr>
      <vt:lpstr>가설 및 문제 정의</vt:lpstr>
      <vt:lpstr>데이터셋 분할 전략</vt:lpstr>
      <vt:lpstr>모델 개발 및 선정 근거</vt:lpstr>
      <vt:lpstr>성능 평가 결과</vt:lpstr>
      <vt:lpstr>팀원별 담당 역할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42</cp:revision>
  <dcterms:created xsi:type="dcterms:W3CDTF">2026-03-10T17:23:29Z</dcterms:created>
  <dcterms:modified xsi:type="dcterms:W3CDTF">2026-08-04T03:19:53Z</dcterms:modified>
</cp:coreProperties>
</file>