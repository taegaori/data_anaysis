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9" autoAdjust="0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1837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3437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F7FCEC0-9BF7-C7AB-2E28-BF9358ECB10A}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6A3C5D1-F241-4B07-65D0-0487E88E244A}"/>
              </a:ext>
            </a:extLst>
          </p:cNvPr>
          <p:cNvSpPr/>
          <p:nvPr userDrawn="1"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5">
            <a:extLst>
              <a:ext uri="{FF2B5EF4-FFF2-40B4-BE49-F238E27FC236}">
                <a16:creationId xmlns:a16="http://schemas.microsoft.com/office/drawing/2014/main" id="{A3EFE6F8-DA1A-85A4-6F9E-896D0BB01EE1}"/>
              </a:ext>
            </a:extLst>
          </p:cNvPr>
          <p:cNvSpPr/>
          <p:nvPr userDrawn="1"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Text 16">
            <a:extLst>
              <a:ext uri="{FF2B5EF4-FFF2-40B4-BE49-F238E27FC236}">
                <a16:creationId xmlns:a16="http://schemas.microsoft.com/office/drawing/2014/main" id="{5B82CC4B-4723-62DA-34D4-85571F3B4C25}"/>
              </a:ext>
            </a:extLst>
          </p:cNvPr>
          <p:cNvSpPr/>
          <p:nvPr userDrawn="1"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 분석 플랫폼 개발자 양성과정  |  </a:t>
            </a:r>
            <a:r>
              <a:rPr lang="ko-KR" alt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탐색적 데이터 분석</a:t>
            </a:r>
            <a:endParaRPr lang="en-US" sz="800" dirty="0"/>
          </a:p>
        </p:txBody>
      </p:sp>
      <p:sp>
        <p:nvSpPr>
          <p:cNvPr id="6" name="Text 17">
            <a:extLst>
              <a:ext uri="{FF2B5EF4-FFF2-40B4-BE49-F238E27FC236}">
                <a16:creationId xmlns:a16="http://schemas.microsoft.com/office/drawing/2014/main" id="{604F34FF-DD31-5BC2-53F0-68A043D0CAAC}"/>
              </a:ext>
            </a:extLst>
          </p:cNvPr>
          <p:cNvSpPr/>
          <p:nvPr userDrawn="1"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fld id="{B4DF1AC8-19D0-4BA0-AE8B-CFB9F8DCD785}" type="slidenum">
              <a:rPr lang="en-US" sz="850" smtClean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‹#›</a:t>
            </a:fld>
            <a:endParaRPr lang="en-US" sz="8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93079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제출 </a:t>
            </a:r>
            <a:r>
              <a:rPr lang="en-US" sz="1200" b="1" dirty="0" err="1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학사시스템 능력 평가 게시판 및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GitHub Repository  →  본인 Branch Push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520440"/>
            <a:ext cx="521208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r>
              <a:rPr lang="en-US" altLang="ko-KR" dirty="0"/>
              <a:t>		</a:t>
            </a:r>
            <a:r>
              <a:rPr lang="ko-KR" altLang="en-US" dirty="0" err="1"/>
              <a:t>태두혁</a:t>
            </a:r>
            <a:endParaRPr lang="ko-KR" altLang="en-US" dirty="0"/>
          </a:p>
        </p:txBody>
      </p:sp>
      <p:sp>
        <p:nvSpPr>
          <p:cNvPr id="9" name="Shape 7"/>
          <p:cNvSpPr/>
          <p:nvPr/>
        </p:nvSpPr>
        <p:spPr>
          <a:xfrm>
            <a:off x="5897880" y="3520440"/>
            <a:ext cx="585216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r>
              <a:rPr lang="en-US" altLang="ko-KR" dirty="0"/>
              <a:t>		2026-07-28</a:t>
            </a:r>
            <a:endParaRPr lang="ko-KR" altLang="en-US" dirty="0"/>
          </a:p>
        </p:txBody>
      </p:sp>
      <p:sp>
        <p:nvSpPr>
          <p:cNvPr id="10" name="Text 8"/>
          <p:cNvSpPr/>
          <p:nvPr/>
        </p:nvSpPr>
        <p:spPr>
          <a:xfrm>
            <a:off x="594360" y="352044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 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35040" y="3520440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수행날짜 :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11274552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r>
              <a:rPr lang="en-US" altLang="ko-KR" dirty="0"/>
              <a:t>			</a:t>
            </a:r>
            <a:r>
              <a:rPr lang="en-US" altLang="ko-KR" dirty="0" err="1"/>
              <a:t>TaeDoohyeok</a:t>
            </a:r>
            <a:endParaRPr lang="ko-KR" altLang="en-US" dirty="0"/>
          </a:p>
        </p:txBody>
      </p:sp>
      <p:sp>
        <p:nvSpPr>
          <p:cNvPr id="13" name="Text 11"/>
          <p:cNvSpPr/>
          <p:nvPr/>
        </p:nvSpPr>
        <p:spPr>
          <a:xfrm>
            <a:off x="594360" y="420624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 이름 (영문) :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97764" y="4892039"/>
            <a:ext cx="11274552" cy="1242061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5" name="Text 13"/>
          <p:cNvSpPr/>
          <p:nvPr/>
        </p:nvSpPr>
        <p:spPr>
          <a:xfrm>
            <a:off x="539496" y="4936207"/>
            <a:ext cx="10972800" cy="641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base" latinLnBrk="1"/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📂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업로드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</a:t>
            </a:r>
            <a:r>
              <a:rPr lang="en-US" sz="1100" b="1" dirty="0">
                <a:solidFill>
                  <a:srgbClr val="1F3864"/>
                </a:solidFill>
                <a:latin typeface="Consolas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탐색적데이터분석</a:t>
            </a: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_이름.pptx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README.md, </a:t>
            </a:r>
            <a:r>
              <a:rPr lang="en-US" altLang="ko-KR" sz="1100" dirty="0" err="1">
                <a:solidFill>
                  <a:srgbClr val="1F3864"/>
                </a:solidFill>
                <a:latin typeface="Consolas" pitchFamily="34" charset="0"/>
              </a:rPr>
              <a:t>ipynb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파일</a:t>
            </a:r>
            <a:endParaRPr lang="en-US" altLang="ko-KR" sz="1100" dirty="0">
              <a:solidFill>
                <a:srgbClr val="1F3864"/>
              </a:solidFill>
              <a:latin typeface="Consolas" pitchFamily="34" charset="0"/>
            </a:endParaRPr>
          </a:p>
          <a:p>
            <a:pPr fontAlgn="base" latinLnBrk="1"/>
            <a:endParaRPr lang="en-US" altLang="ko-KR" sz="1100" dirty="0">
              <a:solidFill>
                <a:srgbClr val="1F3864"/>
              </a:solidFill>
              <a:latin typeface="Consolas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94360" y="5733795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🔗 Repository  </a:t>
            </a:r>
            <a:r>
              <a:rPr lang="en-US" sz="1000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https://github.com/seokssaem/bigdata-2026.git</a:t>
            </a:r>
            <a:endParaRPr lang="en-US" sz="1050" dirty="0"/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8BC81973-757D-485D-96FF-3696C0A0A77D}"/>
              </a:ext>
            </a:extLst>
          </p:cNvPr>
          <p:cNvGrpSpPr/>
          <p:nvPr/>
        </p:nvGrpSpPr>
        <p:grpSpPr>
          <a:xfrm>
            <a:off x="320040" y="502920"/>
            <a:ext cx="11564992" cy="2225950"/>
            <a:chOff x="320040" y="502920"/>
            <a:chExt cx="8503920" cy="1636776"/>
          </a:xfrm>
        </p:grpSpPr>
        <p:sp>
          <p:nvSpPr>
            <p:cNvPr id="23" name="Shape 0">
              <a:extLst>
                <a:ext uri="{FF2B5EF4-FFF2-40B4-BE49-F238E27FC236}">
                  <a16:creationId xmlns:a16="http://schemas.microsoft.com/office/drawing/2014/main" id="{E43AED38-6721-43F1-ADB5-9F80281533BE}"/>
                </a:ext>
              </a:extLst>
            </p:cNvPr>
            <p:cNvSpPr/>
            <p:nvPr/>
          </p:nvSpPr>
          <p:spPr>
            <a:xfrm>
              <a:off x="320040" y="502920"/>
              <a:ext cx="8391211" cy="1188720"/>
            </a:xfrm>
            <a:prstGeom prst="rect">
              <a:avLst/>
            </a:prstGeom>
            <a:solidFill>
              <a:srgbClr val="1B3060"/>
            </a:solidFill>
            <a:ln w="12700">
              <a:solidFill>
                <a:srgbClr val="1B3060"/>
              </a:solidFill>
              <a:prstDash val="solid"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4" name="Text 1">
              <a:extLst>
                <a:ext uri="{FF2B5EF4-FFF2-40B4-BE49-F238E27FC236}">
                  <a16:creationId xmlns:a16="http://schemas.microsoft.com/office/drawing/2014/main" id="{B38B700B-665B-4954-A350-4E77CC95815B}"/>
                </a:ext>
              </a:extLst>
            </p:cNvPr>
            <p:cNvSpPr/>
            <p:nvPr/>
          </p:nvSpPr>
          <p:spPr>
            <a:xfrm>
              <a:off x="411480" y="548640"/>
              <a:ext cx="8321040" cy="6583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ko-KR" altLang="en-US" sz="34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탐색적 데이터 분석</a:t>
              </a:r>
              <a:endParaRPr lang="en-US" sz="3400" dirty="0"/>
            </a:p>
          </p:txBody>
        </p:sp>
        <p:sp>
          <p:nvSpPr>
            <p:cNvPr id="25" name="Text 2">
              <a:extLst>
                <a:ext uri="{FF2B5EF4-FFF2-40B4-BE49-F238E27FC236}">
                  <a16:creationId xmlns:a16="http://schemas.microsoft.com/office/drawing/2014/main" id="{DF463385-4573-444B-A0C5-E828EF08007F}"/>
                </a:ext>
              </a:extLst>
            </p:cNvPr>
            <p:cNvSpPr/>
            <p:nvPr/>
          </p:nvSpPr>
          <p:spPr>
            <a:xfrm>
              <a:off x="411480" y="1097280"/>
              <a:ext cx="83210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kern="0" spc="300" dirty="0">
                  <a:solidFill>
                    <a:srgbClr val="CADCFC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평 가 작 업 지 시 서</a:t>
              </a:r>
              <a:endParaRPr lang="en-US" sz="1600" dirty="0"/>
            </a:p>
          </p:txBody>
        </p:sp>
        <p:sp>
          <p:nvSpPr>
            <p:cNvPr id="26" name="Text 3">
              <a:extLst>
                <a:ext uri="{FF2B5EF4-FFF2-40B4-BE49-F238E27FC236}">
                  <a16:creationId xmlns:a16="http://schemas.microsoft.com/office/drawing/2014/main" id="{D719A7B1-B47A-4564-BE8B-9B7839CC1A15}"/>
                </a:ext>
              </a:extLst>
            </p:cNvPr>
            <p:cNvSpPr/>
            <p:nvPr/>
          </p:nvSpPr>
          <p:spPr>
            <a:xfrm>
              <a:off x="320040" y="1847088"/>
              <a:ext cx="850392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i="1" dirty="0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[2001010511_21v4]</a:t>
              </a:r>
              <a:endParaRPr lang="en-US" sz="1100"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6452376-A48D-4F5E-B072-9E7A1888E5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987" y="155636"/>
            <a:ext cx="2848373" cy="62111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80FBFD1-B030-470E-BB0C-207941C0E7A0}"/>
              </a:ext>
            </a:extLst>
          </p:cNvPr>
          <p:cNvSpPr txBox="1"/>
          <p:nvPr/>
        </p:nvSpPr>
        <p:spPr>
          <a:xfrm>
            <a:off x="4051883" y="520117"/>
            <a:ext cx="72396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Shape</a:t>
            </a:r>
            <a:r>
              <a:rPr lang="ko-KR" altLang="en-US" dirty="0"/>
              <a:t>로 행과 열의 개수 확인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58CB92-E911-4ED2-863E-E07ED9629D51}"/>
              </a:ext>
            </a:extLst>
          </p:cNvPr>
          <p:cNvSpPr txBox="1"/>
          <p:nvPr/>
        </p:nvSpPr>
        <p:spPr>
          <a:xfrm>
            <a:off x="4051883" y="1434517"/>
            <a:ext cx="47397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dtypes</a:t>
            </a:r>
            <a:r>
              <a:rPr lang="ko-KR" altLang="en-US" dirty="0"/>
              <a:t>로 리스트별 데이터 타입 확인</a:t>
            </a:r>
          </a:p>
        </p:txBody>
      </p:sp>
    </p:spTree>
    <p:extLst>
      <p:ext uri="{BB962C8B-B14F-4D97-AF65-F5344CB8AC3E}">
        <p14:creationId xmlns:p14="http://schemas.microsoft.com/office/powerpoint/2010/main" val="4288695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A88A886-D764-4827-85E0-9DD2B5AB4C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613" y="1"/>
            <a:ext cx="12192000" cy="480689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915F704-D0A8-43FF-A60F-CF305A7EB8C6}"/>
              </a:ext>
            </a:extLst>
          </p:cNvPr>
          <p:cNvSpPr txBox="1"/>
          <p:nvPr/>
        </p:nvSpPr>
        <p:spPr>
          <a:xfrm>
            <a:off x="1400961" y="83890"/>
            <a:ext cx="7474591" cy="3691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Describe</a:t>
            </a:r>
            <a:r>
              <a:rPr lang="ko-KR" altLang="en-US" dirty="0"/>
              <a:t>로 수치형 </a:t>
            </a:r>
            <a:r>
              <a:rPr lang="ko-KR" altLang="en-US" dirty="0" err="1"/>
              <a:t>기술통계량</a:t>
            </a:r>
            <a:r>
              <a:rPr lang="ko-KR" altLang="en-US" dirty="0"/>
              <a:t> 확인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AAA66B-EC0E-4C98-8BF9-C71365859AF7}"/>
              </a:ext>
            </a:extLst>
          </p:cNvPr>
          <p:cNvSpPr txBox="1"/>
          <p:nvPr/>
        </p:nvSpPr>
        <p:spPr>
          <a:xfrm>
            <a:off x="4278385" y="3582099"/>
            <a:ext cx="54108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수치형 리스트와 범주형 리스트 구분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3AE6C22-EF35-43BA-AEF8-52E2F27252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613" y="4974790"/>
            <a:ext cx="2857899" cy="143847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163F71F-D7BF-4A17-821F-6B62FF082F2C}"/>
              </a:ext>
            </a:extLst>
          </p:cNvPr>
          <p:cNvSpPr txBox="1"/>
          <p:nvPr/>
        </p:nvSpPr>
        <p:spPr>
          <a:xfrm>
            <a:off x="3347207" y="5075339"/>
            <a:ext cx="54360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.</a:t>
            </a:r>
            <a:r>
              <a:rPr lang="en-US" altLang="ko-KR" dirty="0" err="1"/>
              <a:t>value_count</a:t>
            </a:r>
            <a:r>
              <a:rPr lang="ko-KR" altLang="en-US" dirty="0"/>
              <a:t>로 거주지역</a:t>
            </a:r>
            <a:r>
              <a:rPr lang="en-US" altLang="ko-KR" dirty="0"/>
              <a:t>_</a:t>
            </a:r>
            <a:r>
              <a:rPr lang="ko-KR" altLang="en-US" dirty="0"/>
              <a:t>기타의 </a:t>
            </a:r>
            <a:r>
              <a:rPr lang="ko-KR" altLang="en-US" dirty="0" err="1"/>
              <a:t>범주별</a:t>
            </a:r>
            <a:r>
              <a:rPr lang="ko-KR" altLang="en-US" dirty="0"/>
              <a:t> 빈도 확인</a:t>
            </a:r>
          </a:p>
        </p:txBody>
      </p:sp>
    </p:spTree>
    <p:extLst>
      <p:ext uri="{BB962C8B-B14F-4D97-AF65-F5344CB8AC3E}">
        <p14:creationId xmlns:p14="http://schemas.microsoft.com/office/powerpoint/2010/main" val="23919778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C77C52B-0F24-4913-BC46-F4D89082E6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006" y="66838"/>
            <a:ext cx="4151380" cy="411087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40FB751-F87A-4A39-AFA2-5391F15ADC38}"/>
              </a:ext>
            </a:extLst>
          </p:cNvPr>
          <p:cNvSpPr txBox="1"/>
          <p:nvPr/>
        </p:nvSpPr>
        <p:spPr>
          <a:xfrm>
            <a:off x="4412609" y="268448"/>
            <a:ext cx="53353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수치형 변수</a:t>
            </a:r>
            <a:r>
              <a:rPr lang="en-US" altLang="ko-KR" dirty="0"/>
              <a:t>(</a:t>
            </a:r>
            <a:r>
              <a:rPr lang="ko-KR" altLang="en-US" dirty="0"/>
              <a:t>나이</a:t>
            </a:r>
            <a:r>
              <a:rPr lang="en-US" altLang="ko-KR" dirty="0"/>
              <a:t>)</a:t>
            </a:r>
            <a:r>
              <a:rPr lang="ko-KR" altLang="en-US" dirty="0"/>
              <a:t>를 히스토그램으로 시각화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24D5524-8724-4434-89E7-BA93811E36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4556" y="2661111"/>
            <a:ext cx="3757444" cy="384482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4829CB0-FFA5-4DC8-BB74-F836F07F769B}"/>
              </a:ext>
            </a:extLst>
          </p:cNvPr>
          <p:cNvSpPr txBox="1"/>
          <p:nvPr/>
        </p:nvSpPr>
        <p:spPr>
          <a:xfrm>
            <a:off x="2726422" y="5201174"/>
            <a:ext cx="5629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범주형 변수</a:t>
            </a:r>
            <a:r>
              <a:rPr lang="en-US" altLang="ko-KR" dirty="0"/>
              <a:t>(</a:t>
            </a:r>
            <a:r>
              <a:rPr lang="ko-KR" altLang="en-US" dirty="0"/>
              <a:t>거주지역</a:t>
            </a:r>
            <a:r>
              <a:rPr lang="en-US" altLang="ko-KR" dirty="0"/>
              <a:t>_</a:t>
            </a:r>
            <a:r>
              <a:rPr lang="ko-KR" altLang="en-US" dirty="0"/>
              <a:t>기타</a:t>
            </a:r>
            <a:r>
              <a:rPr lang="en-US" altLang="ko-KR" dirty="0"/>
              <a:t>)</a:t>
            </a:r>
            <a:r>
              <a:rPr lang="ko-KR" altLang="en-US" dirty="0"/>
              <a:t>를 막대그래프로 시각화</a:t>
            </a:r>
          </a:p>
        </p:txBody>
      </p:sp>
    </p:spTree>
    <p:extLst>
      <p:ext uri="{BB962C8B-B14F-4D97-AF65-F5344CB8AC3E}">
        <p14:creationId xmlns:p14="http://schemas.microsoft.com/office/powerpoint/2010/main" val="20833552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2392CB0-18FC-4E18-BF18-4E399BE447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595" y="0"/>
            <a:ext cx="7287642" cy="606827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61B0F60-9495-468C-B661-FBC22C6A3619}"/>
              </a:ext>
            </a:extLst>
          </p:cNvPr>
          <p:cNvSpPr txBox="1"/>
          <p:nvPr/>
        </p:nvSpPr>
        <p:spPr>
          <a:xfrm>
            <a:off x="7441237" y="276837"/>
            <a:ext cx="47507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수치형 변수를 </a:t>
            </a:r>
            <a:r>
              <a:rPr lang="en-US" altLang="ko-KR" dirty="0" err="1"/>
              <a:t>corr</a:t>
            </a:r>
            <a:r>
              <a:rPr lang="ko-KR" altLang="en-US" dirty="0"/>
              <a:t>로 계산하고 </a:t>
            </a:r>
            <a:r>
              <a:rPr lang="en-US" altLang="ko-KR" dirty="0"/>
              <a:t>heatmap</a:t>
            </a:r>
            <a:r>
              <a:rPr lang="ko-KR" altLang="en-US" dirty="0"/>
              <a:t>으로 시각화</a:t>
            </a:r>
          </a:p>
        </p:txBody>
      </p:sp>
    </p:spTree>
    <p:extLst>
      <p:ext uri="{BB962C8B-B14F-4D97-AF65-F5344CB8AC3E}">
        <p14:creationId xmlns:p14="http://schemas.microsoft.com/office/powerpoint/2010/main" val="15338217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2AD66FC-4A47-4562-B14B-130BC59647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658" y="0"/>
            <a:ext cx="4184812" cy="644274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BF76A5F4-E620-47D8-A472-2C662E08B6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9922" y="1267096"/>
            <a:ext cx="4820323" cy="243874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DE0AF21-B804-4F97-97A3-CACEF1650E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0877" y="4501748"/>
            <a:ext cx="4041123" cy="2014247"/>
          </a:xfrm>
          <a:prstGeom prst="rect">
            <a:avLst/>
          </a:prstGeom>
        </p:spPr>
      </p:pic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0673A644-5E81-4A40-8993-3AEE3CEDC644}"/>
              </a:ext>
            </a:extLst>
          </p:cNvPr>
          <p:cNvCxnSpPr/>
          <p:nvPr/>
        </p:nvCxnSpPr>
        <p:spPr>
          <a:xfrm>
            <a:off x="4840448" y="159391"/>
            <a:ext cx="2223082" cy="8808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6EF67744-A5EE-4395-A310-77815D296647}"/>
              </a:ext>
            </a:extLst>
          </p:cNvPr>
          <p:cNvCxnSpPr/>
          <p:nvPr/>
        </p:nvCxnSpPr>
        <p:spPr>
          <a:xfrm>
            <a:off x="7675927" y="3791824"/>
            <a:ext cx="2323750" cy="6291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7098DF1E-858E-476F-9E75-672B3914AA14}"/>
              </a:ext>
            </a:extLst>
          </p:cNvPr>
          <p:cNvSpPr txBox="1"/>
          <p:nvPr/>
        </p:nvSpPr>
        <p:spPr>
          <a:xfrm>
            <a:off x="6935850" y="415147"/>
            <a:ext cx="54043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0" i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최고 상관 변수 쌍</a:t>
            </a:r>
            <a:r>
              <a:rPr lang="en-US" altLang="ko-KR" b="0" i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b="0" i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구매횟수</a:t>
            </a:r>
            <a:r>
              <a:rPr lang="en-US" altLang="ko-KR" b="0" i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en-US" b="0" i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리뷰점수</a:t>
            </a:r>
            <a:r>
              <a:rPr lang="en-US" altLang="ko-KR" b="0" i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ko-KR" altLang="en-US" b="0" i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구하기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117256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C33EC80-FD1A-4FE0-B248-24BD094E67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468" y="263624"/>
            <a:ext cx="5725324" cy="587774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111F092-74AA-4209-89CC-87BB10924F4C}"/>
              </a:ext>
            </a:extLst>
          </p:cNvPr>
          <p:cNvSpPr txBox="1"/>
          <p:nvPr/>
        </p:nvSpPr>
        <p:spPr>
          <a:xfrm>
            <a:off x="6096000" y="5386273"/>
            <a:ext cx="47649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구매 횟수가 늘어날 수록 리뷰 점수가 높게 분포되어 있는 걸 알 수 있다</a:t>
            </a:r>
            <a:b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AE2478-D020-4585-8C0B-A50919CCA4F9}"/>
              </a:ext>
            </a:extLst>
          </p:cNvPr>
          <p:cNvSpPr txBox="1"/>
          <p:nvPr/>
        </p:nvSpPr>
        <p:spPr>
          <a:xfrm>
            <a:off x="6096000" y="369116"/>
            <a:ext cx="5589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구매횟수와 리뷰점수의 관계를 </a:t>
            </a:r>
            <a:r>
              <a:rPr lang="en-US" altLang="ko-KR" dirty="0"/>
              <a:t>scatterplot</a:t>
            </a:r>
            <a:r>
              <a:rPr lang="ko-KR" altLang="en-US" dirty="0"/>
              <a:t>로 시각화</a:t>
            </a:r>
          </a:p>
        </p:txBody>
      </p:sp>
    </p:spTree>
    <p:extLst>
      <p:ext uri="{BB962C8B-B14F-4D97-AF65-F5344CB8AC3E}">
        <p14:creationId xmlns:p14="http://schemas.microsoft.com/office/powerpoint/2010/main" val="11364083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735D2DB-D6B0-480A-B8A1-F71742FCBD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567" y="478180"/>
            <a:ext cx="5753903" cy="551574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99C7475-5230-4927-BF01-7D71B7446A5A}"/>
              </a:ext>
            </a:extLst>
          </p:cNvPr>
          <p:cNvSpPr txBox="1"/>
          <p:nvPr/>
        </p:nvSpPr>
        <p:spPr>
          <a:xfrm>
            <a:off x="6096000" y="578110"/>
            <a:ext cx="53298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0" i="0" dirty="0">
                <a:solidFill>
                  <a:srgbClr val="212529"/>
                </a:solidFill>
                <a:effectLst/>
                <a:latin typeface="ChosunGu"/>
              </a:rPr>
              <a:t>범주형 변수</a:t>
            </a:r>
            <a:r>
              <a:rPr lang="en-US" altLang="ko-KR" b="0" i="0" dirty="0">
                <a:solidFill>
                  <a:srgbClr val="212529"/>
                </a:solidFill>
                <a:effectLst/>
                <a:latin typeface="ChosunGu"/>
              </a:rPr>
              <a:t>(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ChosunGu"/>
              </a:rPr>
              <a:t>멤버십등급</a:t>
            </a:r>
            <a:r>
              <a:rPr lang="en-US" altLang="ko-KR" b="0" i="0" dirty="0">
                <a:solidFill>
                  <a:srgbClr val="212529"/>
                </a:solidFill>
                <a:effectLst/>
                <a:latin typeface="ChosunGu"/>
              </a:rPr>
              <a:t>)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ChosunGu"/>
              </a:rPr>
              <a:t>와 수치형 변수</a:t>
            </a:r>
            <a:r>
              <a:rPr lang="en-US" altLang="ko-KR" b="0" i="0" dirty="0">
                <a:solidFill>
                  <a:srgbClr val="212529"/>
                </a:solidFill>
                <a:effectLst/>
                <a:latin typeface="ChosunGu"/>
              </a:rPr>
              <a:t>(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ChosunGu"/>
              </a:rPr>
              <a:t>월평균구매금액 간의 관계를 </a:t>
            </a:r>
            <a:r>
              <a:rPr lang="en-US" altLang="ko-KR" b="0" i="0" dirty="0">
                <a:solidFill>
                  <a:srgbClr val="212529"/>
                </a:solidFill>
                <a:effectLst/>
                <a:latin typeface="ChosunGu"/>
              </a:rPr>
              <a:t>boxplot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ChosunGu"/>
              </a:rPr>
              <a:t>로 시각화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587E70-9D82-4816-96A3-CF282C869BE1}"/>
              </a:ext>
            </a:extLst>
          </p:cNvPr>
          <p:cNvSpPr txBox="1"/>
          <p:nvPr/>
        </p:nvSpPr>
        <p:spPr>
          <a:xfrm>
            <a:off x="6205531" y="5033394"/>
            <a:ext cx="59249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평균적으로 사용한 구매금액은 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VIP - </a:t>
            </a:r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골드 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- </a:t>
            </a:r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실버 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- </a:t>
            </a:r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브론즈 순으로 나타나지만 오히려 극단적 이상치는 브론즈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실버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ko-KR" altLang="en-US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골드에서</a:t>
            </a:r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다수 관찰된다</a:t>
            </a:r>
          </a:p>
        </p:txBody>
      </p:sp>
    </p:spTree>
    <p:extLst>
      <p:ext uri="{BB962C8B-B14F-4D97-AF65-F5344CB8AC3E}">
        <p14:creationId xmlns:p14="http://schemas.microsoft.com/office/powerpoint/2010/main" val="7275480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C15B70B-B05D-4191-AD75-8B3FF91DA6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921" y="234335"/>
            <a:ext cx="5982535" cy="60873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E3CBAAB-B2E9-49E6-8403-E36EC85BDD85}"/>
              </a:ext>
            </a:extLst>
          </p:cNvPr>
          <p:cNvSpPr txBox="1"/>
          <p:nvPr/>
        </p:nvSpPr>
        <p:spPr>
          <a:xfrm>
            <a:off x="6352456" y="587229"/>
            <a:ext cx="55179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쿠폰사용여부로 그룹화하여 월평균구매금액의 평균을 막대그래프로 비교</a:t>
            </a:r>
          </a:p>
        </p:txBody>
      </p:sp>
    </p:spTree>
    <p:extLst>
      <p:ext uri="{BB962C8B-B14F-4D97-AF65-F5344CB8AC3E}">
        <p14:creationId xmlns:p14="http://schemas.microsoft.com/office/powerpoint/2010/main" val="29153587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23C11F2-1273-4FF0-809A-6CF83ECDD222}"/>
              </a:ext>
            </a:extLst>
          </p:cNvPr>
          <p:cNvSpPr txBox="1"/>
          <p:nvPr/>
        </p:nvSpPr>
        <p:spPr>
          <a:xfrm>
            <a:off x="3043107" y="1857486"/>
            <a:ext cx="610299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b="0" dirty="0">
                <a:solidFill>
                  <a:srgbClr val="B58900"/>
                </a:solidFill>
                <a:effectLst/>
                <a:latin typeface="Consolas" panose="020B0609020204030204" pitchFamily="49" charset="0"/>
              </a:rPr>
              <a:t>리뷰점수가 높을 수록 재방문 횟수가 증가하는 걸로 보아 서비스가 중요하다는 것을 알 수 있다</a:t>
            </a:r>
            <a:r>
              <a:rPr lang="en-US" altLang="ko-KR" b="0" dirty="0">
                <a:solidFill>
                  <a:srgbClr val="B58900"/>
                </a:solidFill>
                <a:effectLst/>
                <a:latin typeface="Consolas" panose="020B0609020204030204" pitchFamily="49" charset="0"/>
              </a:rPr>
              <a:t>.</a:t>
            </a:r>
          </a:p>
          <a:p>
            <a:pPr marL="285750" indent="-285750">
              <a:buFontTx/>
              <a:buChar char="-"/>
            </a:pPr>
            <a:endParaRPr lang="en-US" altLang="ko-KR" dirty="0">
              <a:solidFill>
                <a:srgbClr val="B58900"/>
              </a:solidFill>
              <a:latin typeface="Consolas" panose="020B0609020204030204" pitchFamily="49" charset="0"/>
            </a:endParaRPr>
          </a:p>
          <a:p>
            <a:pPr marL="285750" indent="-285750">
              <a:buFontTx/>
              <a:buChar char="-"/>
            </a:pP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B58900"/>
                </a:solidFill>
                <a:effectLst/>
                <a:latin typeface="Consolas" panose="020B0609020204030204" pitchFamily="49" charset="0"/>
              </a:rPr>
              <a:t>- VIP</a:t>
            </a:r>
            <a:r>
              <a:rPr lang="ko-KR" altLang="en-US" b="0" dirty="0">
                <a:solidFill>
                  <a:srgbClr val="B58900"/>
                </a:solidFill>
                <a:effectLst/>
                <a:latin typeface="Consolas" panose="020B0609020204030204" pitchFamily="49" charset="0"/>
              </a:rPr>
              <a:t>등급은 이상치가 적고 평균금액이 큰 반면 골드</a:t>
            </a:r>
            <a:r>
              <a:rPr lang="en-US" altLang="ko-KR" b="0" dirty="0">
                <a:solidFill>
                  <a:srgbClr val="B589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en-US" b="0" dirty="0">
                <a:solidFill>
                  <a:srgbClr val="B58900"/>
                </a:solidFill>
                <a:effectLst/>
                <a:latin typeface="Consolas" panose="020B0609020204030204" pitchFamily="49" charset="0"/>
              </a:rPr>
              <a:t>실버</a:t>
            </a:r>
            <a:r>
              <a:rPr lang="en-US" altLang="ko-KR" b="0" dirty="0">
                <a:solidFill>
                  <a:srgbClr val="B589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en-US" b="0" dirty="0">
                <a:solidFill>
                  <a:srgbClr val="B58900"/>
                </a:solidFill>
                <a:effectLst/>
                <a:latin typeface="Consolas" panose="020B0609020204030204" pitchFamily="49" charset="0"/>
              </a:rPr>
              <a:t>브론즈 등급 순으로 평균 금액이 크고 극단적 이상치가 나타나는 걸로 보아 최근에 구매를 시작한 신규 </a:t>
            </a:r>
            <a:r>
              <a:rPr lang="ko-KR" altLang="en-US" b="0" dirty="0" err="1">
                <a:solidFill>
                  <a:srgbClr val="B58900"/>
                </a:solidFill>
                <a:effectLst/>
                <a:latin typeface="Consolas" panose="020B0609020204030204" pitchFamily="49" charset="0"/>
              </a:rPr>
              <a:t>고객이너가</a:t>
            </a:r>
            <a:r>
              <a:rPr lang="ko-KR" altLang="en-US" b="0" dirty="0">
                <a:solidFill>
                  <a:srgbClr val="B58900"/>
                </a:solidFill>
                <a:effectLst/>
                <a:latin typeface="Consolas" panose="020B0609020204030204" pitchFamily="49" charset="0"/>
              </a:rPr>
              <a:t> 아직 산정 주기가 돌아오지 않아 하위 등급에 머물러 있는 잠재적 </a:t>
            </a:r>
            <a:r>
              <a:rPr lang="en-US" altLang="ko-KR" b="0" dirty="0" err="1">
                <a:solidFill>
                  <a:srgbClr val="B58900"/>
                </a:solidFill>
                <a:effectLst/>
                <a:latin typeface="Consolas" panose="020B0609020204030204" pitchFamily="49" charset="0"/>
              </a:rPr>
              <a:t>vip</a:t>
            </a:r>
            <a:r>
              <a:rPr lang="ko-KR" altLang="en-US" b="0" dirty="0">
                <a:solidFill>
                  <a:srgbClr val="B58900"/>
                </a:solidFill>
                <a:effectLst/>
                <a:latin typeface="Consolas" panose="020B0609020204030204" pitchFamily="49" charset="0"/>
              </a:rPr>
              <a:t>가 있을 것으로 추정된다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098347-F47A-41B1-90C8-42406568E03B}"/>
              </a:ext>
            </a:extLst>
          </p:cNvPr>
          <p:cNvSpPr txBox="1"/>
          <p:nvPr/>
        </p:nvSpPr>
        <p:spPr>
          <a:xfrm>
            <a:off x="4731391" y="889233"/>
            <a:ext cx="1946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0" i="0" dirty="0">
                <a:solidFill>
                  <a:srgbClr val="212529"/>
                </a:solidFill>
                <a:effectLst/>
                <a:latin typeface="ChosunGu"/>
              </a:rPr>
              <a:t>분석 결과를 종합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604010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272</Words>
  <Application>Microsoft Office PowerPoint</Application>
  <PresentationFormat>와이드스크린</PresentationFormat>
  <Paragraphs>32</Paragraphs>
  <Slides>10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6" baseType="lpstr">
      <vt:lpstr>ChosunGu</vt:lpstr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03_프로그래밍언어응용</dc:title>
  <dc:subject>PptxGenJS Presentation</dc:subject>
  <dc:creator>PptxGenJS</dc:creator>
  <cp:lastModifiedBy>FullName</cp:lastModifiedBy>
  <cp:revision>20</cp:revision>
  <dcterms:created xsi:type="dcterms:W3CDTF">2026-03-10T17:23:29Z</dcterms:created>
  <dcterms:modified xsi:type="dcterms:W3CDTF">2026-07-28T05:51:41Z</dcterms:modified>
</cp:coreProperties>
</file>